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384048"/>
            <a:ext cx="11384280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CFD9E5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603504"/>
            <a:ext cx="713232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61320" y="5760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mid-mint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12280" y="932688"/>
            <a:ext cx="4370832" cy="4370832"/>
          </a:xfrm>
          <a:prstGeom prst="roundRect">
            <a:avLst>
              <a:gd name="adj" fmla="val 3766"/>
            </a:avLst>
          </a:prstGeom>
          <a:solidFill>
            <a:srgbClr val="EEF7F5"/>
          </a:solidFill>
          <a:ln w="12700">
            <a:solidFill>
              <a:srgbClr val="D7E5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1298448"/>
            <a:ext cx="2057400" cy="2057400"/>
          </a:xfrm>
          <a:prstGeom prst="ellipse">
            <a:avLst/>
          </a:prstGeom>
          <a:solidFill>
            <a:srgbClr val="D7F3EE"/>
          </a:solidFill>
          <a:ln w="12700">
            <a:solidFill>
              <a:srgbClr val="D7F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49640" y="2286000"/>
            <a:ext cx="1417320" cy="1417320"/>
          </a:xfrm>
          <a:prstGeom prst="ellipse">
            <a:avLst/>
          </a:prstGeom>
          <a:solidFill>
            <a:srgbClr val="0F766E">
              <a:alpha val="24000"/>
            </a:srgbClr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60920" y="1481328"/>
            <a:ext cx="2697480" cy="269748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F766E">
                <a:alpha val="7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13385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ENGINEERING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41248" y="1554480"/>
            <a:ext cx="523036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RAG Engineering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68680" y="2880360"/>
            <a:ext cx="4892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is not just a prompt trick. It is a system problem involving ingestion, indexing, retrieval, ranking, and evaluation.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68680" y="4791456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D7F3EE"/>
          </a:solidFill>
          <a:ln w="12700">
            <a:solidFill>
              <a:srgbClr val="D7F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4928616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Editorial deck system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384048"/>
            <a:ext cx="11384280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CFD9E5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603504"/>
            <a:ext cx="71323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61320" y="5760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mid-mint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41248" y="86868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950976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02 / 05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" y="117043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41248" y="1536192"/>
            <a:ext cx="47365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is not just a prompt trick. It is a system problem involving ingestion, indexing, retrieval, ranking, and evaluation.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68680" y="2724912"/>
            <a:ext cx="4736592" cy="658368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880360"/>
            <a:ext cx="4352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grounding improves answer quality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32688" y="3675888"/>
            <a:ext cx="446227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2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grounding improves answer quality</a:t>
            </a:r>
            <a:endParaRPr lang="en-US" sz="132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2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 quality directly affects trust</a:t>
            </a:r>
            <a:endParaRPr lang="en-US" sz="132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2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design impacts latency and cost</a:t>
            </a:r>
            <a:endParaRPr lang="en-US" sz="132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2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 documents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446520" y="1353312"/>
            <a:ext cx="4443984" cy="4407408"/>
          </a:xfrm>
          <a:prstGeom prst="roundRect">
            <a:avLst>
              <a:gd name="adj" fmla="val 3734"/>
            </a:avLst>
          </a:prstGeom>
          <a:solidFill>
            <a:srgbClr val="F7FAFD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11112" y="1517904"/>
            <a:ext cx="4114800" cy="310896"/>
          </a:xfrm>
          <a:prstGeom prst="roundRect">
            <a:avLst>
              <a:gd name="adj" fmla="val 14706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39128" y="1609344"/>
            <a:ext cx="38587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"RAG is not just a prompt trick. It is</a:t>
            </a:r>
            <a:endParaRPr lang="en-US" sz="800" dirty="0"/>
          </a:p>
        </p:txBody>
      </p:sp>
      <p:pic>
        <p:nvPicPr>
          <p:cNvPr id="16" name="Image 0" descr="/Users/gengyu/code/mid-mint/data/projects/sample-visual-pass-v2-20260421-b8e19b/assets/slide-002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56832" y="1956816"/>
            <a:ext cx="4023360" cy="35935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384048"/>
            <a:ext cx="11384280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CFD9E5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603504"/>
            <a:ext cx="713232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61320" y="5760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mid-mint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41248" y="86868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DE7C7"/>
          </a:solidFill>
          <a:ln w="12700">
            <a:solidFill>
              <a:srgbClr val="FDE7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950976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03 / 05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" y="117043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Pipeline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68680" y="1572768"/>
            <a:ext cx="2377440" cy="3337560"/>
          </a:xfrm>
          <a:prstGeom prst="roundRect">
            <a:avLst>
              <a:gd name="adj" fmla="val 5385"/>
            </a:avLst>
          </a:prstGeom>
          <a:solidFill>
            <a:srgbClr val="FBFD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272" y="1737360"/>
            <a:ext cx="2048256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8136" y="1956816"/>
            <a:ext cx="19385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2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 documents</a:t>
            </a:r>
            <a:endParaRPr lang="en-US" sz="132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2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 and clean text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3456432" y="1572768"/>
            <a:ext cx="2377440" cy="3337560"/>
          </a:xfrm>
          <a:prstGeom prst="roundRect">
            <a:avLst>
              <a:gd name="adj" fmla="val 5385"/>
            </a:avLst>
          </a:prstGeom>
          <a:solidFill>
            <a:srgbClr val="FBFD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21024" y="1737360"/>
            <a:ext cx="2048256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75888" y="1956816"/>
            <a:ext cx="19385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2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embeddings</a:t>
            </a:r>
            <a:endParaRPr lang="en-US" sz="132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2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top candidates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6419088" y="1481328"/>
            <a:ext cx="4434840" cy="4407408"/>
          </a:xfrm>
          <a:prstGeom prst="roundRect">
            <a:avLst>
              <a:gd name="adj" fmla="val 3734"/>
            </a:avLst>
          </a:prstGeom>
          <a:solidFill>
            <a:srgbClr val="F7FAFD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1645920"/>
            <a:ext cx="4105656" cy="310896"/>
          </a:xfrm>
          <a:prstGeom prst="roundRect">
            <a:avLst>
              <a:gd name="adj" fmla="val 14706"/>
            </a:avLst>
          </a:prstGeom>
          <a:solidFill>
            <a:srgbClr val="FDE7C7"/>
          </a:solidFill>
          <a:ln w="12700">
            <a:solidFill>
              <a:srgbClr val="FDE7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11696" y="1737360"/>
            <a:ext cx="384962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modular comparison cards to clarify the stru</a:t>
            </a:r>
            <a:endParaRPr lang="en-US" sz="800" dirty="0"/>
          </a:p>
        </p:txBody>
      </p:sp>
      <p:pic>
        <p:nvPicPr>
          <p:cNvPr id="18" name="Image 0" descr="/Users/gengyu/code/mid-mint/data/projects/sample-visual-pass-v2-20260421-b8e19b/assets/slide-003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9400" y="2084832"/>
            <a:ext cx="4014216" cy="35935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384048"/>
            <a:ext cx="11384280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CFD9E5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603504"/>
            <a:ext cx="713232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61320" y="5760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mid-mint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41248" y="86868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D7F3EE"/>
          </a:solidFill>
          <a:ln w="12700">
            <a:solidFill>
              <a:srgbClr val="D7F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950976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04 / 05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" y="117043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Rules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68680" y="1572768"/>
            <a:ext cx="2377440" cy="3337560"/>
          </a:xfrm>
          <a:prstGeom prst="roundRect">
            <a:avLst>
              <a:gd name="adj" fmla="val 5385"/>
            </a:avLst>
          </a:prstGeom>
          <a:solidFill>
            <a:srgbClr val="FBFD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272" y="1737360"/>
            <a:ext cx="2048256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8136" y="1956816"/>
            <a:ext cx="19385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2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chunking strategy explicit</a:t>
            </a:r>
            <a:endParaRPr lang="en-US" sz="132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2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retrieval before tuning prompts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3456432" y="1572768"/>
            <a:ext cx="2377440" cy="3337560"/>
          </a:xfrm>
          <a:prstGeom prst="roundRect">
            <a:avLst>
              <a:gd name="adj" fmla="val 5385"/>
            </a:avLst>
          </a:prstGeom>
          <a:solidFill>
            <a:srgbClr val="FBFD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21024" y="1737360"/>
            <a:ext cx="2048256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75888" y="1956816"/>
            <a:ext cx="19385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2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offline evaluation and online behavior</a:t>
            </a:r>
            <a:endParaRPr lang="en-US" sz="132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2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for observability from the start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6419088" y="1481328"/>
            <a:ext cx="4434840" cy="4407408"/>
          </a:xfrm>
          <a:prstGeom prst="roundRect">
            <a:avLst>
              <a:gd name="adj" fmla="val 3734"/>
            </a:avLst>
          </a:prstGeom>
          <a:solidFill>
            <a:srgbClr val="F7FAFD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1645920"/>
            <a:ext cx="4105656" cy="310896"/>
          </a:xfrm>
          <a:prstGeom prst="roundRect">
            <a:avLst>
              <a:gd name="adj" fmla="val 14706"/>
            </a:avLst>
          </a:prstGeom>
          <a:solidFill>
            <a:srgbClr val="D7F3EE"/>
          </a:solidFill>
          <a:ln w="12700">
            <a:solidFill>
              <a:srgbClr val="D7F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11696" y="1737360"/>
            <a:ext cx="384962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modular comparison cards to clarify the stru</a:t>
            </a:r>
            <a:endParaRPr lang="en-US" sz="800" dirty="0"/>
          </a:p>
        </p:txBody>
      </p:sp>
      <p:pic>
        <p:nvPicPr>
          <p:cNvPr id="18" name="Image 0" descr="/Users/gengyu/code/mid-mint/data/projects/sample-visual-pass-v2-20260421-b8e19b/assets/slide-004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9400" y="2084832"/>
            <a:ext cx="4014216" cy="35935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384048"/>
            <a:ext cx="11384280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CFD9E5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603504"/>
            <a:ext cx="71323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61320" y="5760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mid-mint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41248" y="86868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950976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05 / 05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" y="117043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Summary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77824" y="1627632"/>
            <a:ext cx="4160520" cy="3639312"/>
          </a:xfrm>
          <a:prstGeom prst="roundRect">
            <a:avLst>
              <a:gd name="adj" fmla="val 3015"/>
            </a:avLst>
          </a:prstGeom>
          <a:solidFill>
            <a:srgbClr val="FAFCFE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1901952"/>
            <a:ext cx="37490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grounding improves answer quality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 quality directly affects trust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design impacts latency and cost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 documents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35040" y="1426464"/>
            <a:ext cx="4754880" cy="4498848"/>
          </a:xfrm>
          <a:prstGeom prst="roundRect">
            <a:avLst>
              <a:gd name="adj" fmla="val 365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792224"/>
            <a:ext cx="3931920" cy="3749040"/>
          </a:xfrm>
          <a:prstGeom prst="roundRect">
            <a:avLst>
              <a:gd name="adj" fmla="val 4390"/>
            </a:avLst>
          </a:prstGeom>
          <a:solidFill>
            <a:srgbClr val="F7FAFD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11112" y="1956816"/>
            <a:ext cx="3602736" cy="310896"/>
          </a:xfrm>
          <a:prstGeom prst="roundRect">
            <a:avLst>
              <a:gd name="adj" fmla="val 14706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39128" y="2048256"/>
            <a:ext cx="334670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centered recap motif that reinforces Su</a:t>
            </a:r>
            <a:endParaRPr lang="en-US" sz="800" dirty="0"/>
          </a:p>
        </p:txBody>
      </p:sp>
      <p:pic>
        <p:nvPicPr>
          <p:cNvPr id="15" name="Image 0" descr="/Users/gengyu/code/mid-mint/data/projects/sample-visual-pass-v2-20260421-b8e19b/assets/slide-005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56832" y="2395728"/>
            <a:ext cx="3511296" cy="29352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mid-mint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Engineering</dc:title>
  <dc:subject>RAG Engineering</dc:subject>
  <dc:creator>mid-mint</dc:creator>
  <cp:lastModifiedBy>mid-mint</cp:lastModifiedBy>
  <cp:revision>1</cp:revision>
  <dcterms:created xsi:type="dcterms:W3CDTF">2026-04-21T23:35:58Z</dcterms:created>
  <dcterms:modified xsi:type="dcterms:W3CDTF">2026-04-21T23:35:58Z</dcterms:modified>
</cp:coreProperties>
</file>