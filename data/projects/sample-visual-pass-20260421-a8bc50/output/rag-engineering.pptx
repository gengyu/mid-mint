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384048"/>
            <a:ext cx="11384280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CFD9E5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603504"/>
            <a:ext cx="71323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576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mid-mint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12280" y="932688"/>
            <a:ext cx="4370832" cy="4370832"/>
          </a:xfrm>
          <a:prstGeom prst="roundRect">
            <a:avLst>
              <a:gd name="adj" fmla="val 3766"/>
            </a:avLst>
          </a:prstGeom>
          <a:solidFill>
            <a:srgbClr val="EEF7F5"/>
          </a:solidFill>
          <a:ln w="12700">
            <a:solidFill>
              <a:srgbClr val="D7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1298448"/>
            <a:ext cx="2057400" cy="2057400"/>
          </a:xfrm>
          <a:prstGeom prst="ellipse">
            <a:avLst/>
          </a:prstGeom>
          <a:solidFill>
            <a:srgbClr val="D7F3EE"/>
          </a:solidFill>
          <a:ln w="12700">
            <a:solidFill>
              <a:srgbClr val="D7F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9640" y="2286000"/>
            <a:ext cx="1417320" cy="1417320"/>
          </a:xfrm>
          <a:prstGeom prst="ellipse">
            <a:avLst/>
          </a:prstGeom>
          <a:solidFill>
            <a:srgbClr val="0F766E">
              <a:alpha val="24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1481328"/>
            <a:ext cx="2697480" cy="26974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F766E">
                <a:alpha val="7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1338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ENGINEERING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1554480"/>
            <a:ext cx="52303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Engineering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4892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grounding improves answer quality Retrieval quality directly affects trust System design impacts latency and cost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791456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D7F3EE"/>
          </a:solidFill>
          <a:ln w="12700">
            <a:solidFill>
              <a:srgbClr val="D7F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92861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Editorial deck system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384048"/>
            <a:ext cx="11384280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CFD9E5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603504"/>
            <a:ext cx="71323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576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mid-mint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1248" y="8686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95097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02 / 05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11704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Engineering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Engineering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2724912"/>
            <a:ext cx="4736592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80360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Engineering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675888"/>
            <a:ext cx="44622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Engineering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Pipeline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Rules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46520" y="1353312"/>
            <a:ext cx="4443984" cy="4407408"/>
          </a:xfrm>
          <a:prstGeom prst="roundRect">
            <a:avLst>
              <a:gd name="adj" fmla="val 3734"/>
            </a:avLst>
          </a:prstGeom>
          <a:solidFill>
            <a:srgbClr val="F7FA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11112" y="1517904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1609344"/>
            <a:ext cx="3858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"RAG Engineering" into a clean process</a:t>
            </a:r>
            <a:endParaRPr lang="en-US" sz="800" dirty="0"/>
          </a:p>
        </p:txBody>
      </p:sp>
      <p:pic>
        <p:nvPicPr>
          <p:cNvPr id="16" name="Image 0" descr="/Users/gengyu/code/mid-mint/data/projects/sample-visual-pass-20260421-a8bc50/assets/slide-00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56832" y="1956816"/>
            <a:ext cx="4023360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384048"/>
            <a:ext cx="11384280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CFD9E5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603504"/>
            <a:ext cx="71323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576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mid-mint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1248" y="8686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DE7C7"/>
          </a:solidFill>
          <a:ln w="12700">
            <a:solidFill>
              <a:srgbClr val="FDE7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95097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03 / 05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11704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4736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is not just a prompt trick. It is a system problem involving ingestion, indexing, retrieval, ranking, and evaluation.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2724912"/>
            <a:ext cx="4736592" cy="658368"/>
          </a:xfrm>
          <a:prstGeom prst="roundRect">
            <a:avLst>
              <a:gd name="adj" fmla="val 11111"/>
            </a:avLst>
          </a:prstGeom>
          <a:solidFill>
            <a:srgbClr val="FDE7C7"/>
          </a:solidFill>
          <a:ln w="12700">
            <a:solidFill>
              <a:srgbClr val="FDE7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80360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grounding improves answer quality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675888"/>
            <a:ext cx="44622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grounding improves answer quality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quality directly affects trust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design impacts latency and cost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Engineering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46520" y="1353312"/>
            <a:ext cx="4443984" cy="4407408"/>
          </a:xfrm>
          <a:prstGeom prst="roundRect">
            <a:avLst>
              <a:gd name="adj" fmla="val 3734"/>
            </a:avLst>
          </a:prstGeom>
          <a:solidFill>
            <a:srgbClr val="F7FA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11112" y="1517904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FDE7C7"/>
          </a:solidFill>
          <a:ln w="12700">
            <a:solidFill>
              <a:srgbClr val="FDE7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1609344"/>
            <a:ext cx="3858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"RAG is not just a prompt trick. It is</a:t>
            </a:r>
            <a:endParaRPr lang="en-US" sz="800" dirty="0"/>
          </a:p>
        </p:txBody>
      </p:sp>
      <p:pic>
        <p:nvPicPr>
          <p:cNvPr id="16" name="Image 0" descr="/Users/gengyu/code/mid-mint/data/projects/sample-visual-pass-20260421-a8bc50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56832" y="1956816"/>
            <a:ext cx="4023360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384048"/>
            <a:ext cx="11384280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CFD9E5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603504"/>
            <a:ext cx="71323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576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mid-mint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1248" y="8686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D7F3EE"/>
          </a:solidFill>
          <a:ln w="12700">
            <a:solidFill>
              <a:srgbClr val="D7F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95097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04 / 05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11704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Pipeline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68680" y="1572768"/>
            <a:ext cx="2377440" cy="3337560"/>
          </a:xfrm>
          <a:prstGeom prst="roundRect">
            <a:avLst>
              <a:gd name="adj" fmla="val 5385"/>
            </a:avLst>
          </a:prstGeom>
          <a:solidFill>
            <a:srgbClr val="FBFD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1737360"/>
            <a:ext cx="2048256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1956816"/>
            <a:ext cx="19385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documents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and clean text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3456432" y="1572768"/>
            <a:ext cx="2377440" cy="3337560"/>
          </a:xfrm>
          <a:prstGeom prst="roundRect">
            <a:avLst>
              <a:gd name="adj" fmla="val 5385"/>
            </a:avLst>
          </a:prstGeom>
          <a:solidFill>
            <a:srgbClr val="FBFD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21024" y="1737360"/>
            <a:ext cx="2048256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1956816"/>
            <a:ext cx="19385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embeddings</a:t>
            </a:r>
            <a:endParaRPr lang="en-US" sz="132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2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top candidates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419088" y="1481328"/>
            <a:ext cx="4434840" cy="4407408"/>
          </a:xfrm>
          <a:prstGeom prst="roundRect">
            <a:avLst>
              <a:gd name="adj" fmla="val 3734"/>
            </a:avLst>
          </a:prstGeom>
          <a:solidFill>
            <a:srgbClr val="F7FA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645920"/>
            <a:ext cx="4105656" cy="310896"/>
          </a:xfrm>
          <a:prstGeom prst="roundRect">
            <a:avLst>
              <a:gd name="adj" fmla="val 14706"/>
            </a:avLst>
          </a:prstGeom>
          <a:solidFill>
            <a:srgbClr val="D7F3EE"/>
          </a:solidFill>
          <a:ln w="12700">
            <a:solidFill>
              <a:srgbClr val="D7F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1737360"/>
            <a:ext cx="3849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modular comparison cards to clarify the stru</a:t>
            </a:r>
            <a:endParaRPr lang="en-US" sz="800" dirty="0"/>
          </a:p>
        </p:txBody>
      </p:sp>
      <p:pic>
        <p:nvPicPr>
          <p:cNvPr id="18" name="Image 0" descr="/Users/gengyu/code/mid-mint/data/projects/sample-visual-pass-20260421-a8bc50/assets/slide-0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400" y="2084832"/>
            <a:ext cx="4014216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384048"/>
            <a:ext cx="11384280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CFD9E5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603504"/>
            <a:ext cx="71323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576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mid-mint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1248" y="8686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95097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05 / 05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11704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77824" y="1627632"/>
            <a:ext cx="4160520" cy="3639312"/>
          </a:xfrm>
          <a:prstGeom prst="roundRect">
            <a:avLst>
              <a:gd name="adj" fmla="val 3015"/>
            </a:avLst>
          </a:prstGeom>
          <a:solidFill>
            <a:srgbClr val="FAFCFE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901952"/>
            <a:ext cx="37490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Engineering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Pipeline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Rules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426464"/>
            <a:ext cx="4754880" cy="4498848"/>
          </a:xfrm>
          <a:prstGeom prst="roundRect">
            <a:avLst>
              <a:gd name="adj" fmla="val 365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792224"/>
            <a:ext cx="3931920" cy="3749040"/>
          </a:xfrm>
          <a:prstGeom prst="roundRect">
            <a:avLst>
              <a:gd name="adj" fmla="val 4390"/>
            </a:avLst>
          </a:prstGeom>
          <a:solidFill>
            <a:srgbClr val="F7FA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11112" y="1956816"/>
            <a:ext cx="3602736" cy="310896"/>
          </a:xfrm>
          <a:prstGeom prst="roundRect">
            <a:avLst>
              <a:gd name="adj" fmla="val 1470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9128" y="2048256"/>
            <a:ext cx="33467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centered recap motif that reinforces Su</a:t>
            </a:r>
            <a:endParaRPr lang="en-US" sz="800" dirty="0"/>
          </a:p>
        </p:txBody>
      </p:sp>
      <p:pic>
        <p:nvPicPr>
          <p:cNvPr id="15" name="Image 0" descr="/Users/gengyu/code/mid-mint/data/projects/sample-visual-pass-20260421-a8bc50/assets/slide-0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56832" y="2395728"/>
            <a:ext cx="3511296" cy="29352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mid-mint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Engineering</dc:title>
  <dc:subject>RAG Engineering</dc:subject>
  <dc:creator>mid-mint</dc:creator>
  <cp:lastModifiedBy>mid-mint</cp:lastModifiedBy>
  <cp:revision>1</cp:revision>
  <dcterms:created xsi:type="dcterms:W3CDTF">2026-04-21T23:34:54Z</dcterms:created>
  <dcterms:modified xsi:type="dcterms:W3CDTF">2026-04-21T23:34:54Z</dcterms:modified>
</cp:coreProperties>
</file>